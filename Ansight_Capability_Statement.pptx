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F4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6B7A3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548640"/>
            <a:ext cx="3108960" cy="3108960"/>
          </a:xfrm>
          <a:prstGeom prst="ellipse">
            <a:avLst/>
          </a:prstGeom>
          <a:solidFill>
            <a:srgbClr val="C98A1D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6B7A3D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331720"/>
            <a:ext cx="777240" cy="777240"/>
          </a:xfrm>
          <a:prstGeom prst="ellipse">
            <a:avLst/>
          </a:prstGeom>
          <a:solidFill>
            <a:srgbClr val="C98A1D"/>
          </a:solidFill>
          <a:ln/>
        </p:spPr>
      </p:sp>
      <p:pic>
        <p:nvPicPr>
          <p:cNvPr id="6" name="Image 0" descr="icon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48716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004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ANSIGHT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548640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8D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Consulting &amp; Geospatial Analytics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98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STATEMENT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6172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8C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Adeyinka Adekunle  •  Bloomfield, NJ  •  443-815-1537  •  adekunledeyinka@gmail.com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6B7A3D"/>
          </a:solidFill>
          <a:ln/>
        </p:spPr>
      </p:sp>
      <p:pic>
        <p:nvPicPr>
          <p:cNvPr id="3" name="Image 0" descr="icon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2179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84632"/>
            <a:ext cx="10362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F4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Overview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109441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3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Ansight provides geospatial analytics, GIS enablement, and location intelligence solutions that turn fragmented spatial, demographic, and socioeconomic data into decision-ready insight for enterprise and public-sector clients. Built on 5+ years of enterprise GIS delivery at Esri and AWS, Ansight has supported site selection across 10+ EMEA markets, enabled 20+ transaction managers to independently assess site feasibility, and engineered native geospatial capabilities used by millions of Microsoft 365 users. We pair hands-on GIS product engineering with rigorous QA/QC and stakeholder-ready spatial reporting, combining platform-building and operational delivery under one team.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3EADA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384048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F4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Ansight is positioned to support </a:t>
            </a:r>
            <a:pPr indent="0" marL="0">
              <a:buNone/>
            </a:pPr>
            <a:r>
              <a:rPr lang="en-US" sz="1300" b="1" i="1" dirty="0">
                <a:solidFill>
                  <a:srgbClr val="6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[TARGET AGENCY / COMMAND]</a:t>
            </a:r>
            <a:pPr indent="0" marL="0">
              <a:buNone/>
            </a:pPr>
            <a:r>
              <a:rPr lang="en-US" sz="1300" i="1" dirty="0">
                <a:solidFill>
                  <a:srgbClr val="3F4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’s geospatial data management, site suitability analysis, and location intelligence requirements.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00888" y="480060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3F4A23"/>
          </a:solidFill>
          <a:ln/>
        </p:spPr>
      </p:sp>
      <p:sp>
        <p:nvSpPr>
          <p:cNvPr id="9" name="Text 6"/>
          <p:cNvSpPr/>
          <p:nvPr/>
        </p:nvSpPr>
        <p:spPr>
          <a:xfrm>
            <a:off x="700888" y="4892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92328" y="54864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8D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MARKETS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50" kern="0" dirty="0">
                <a:solidFill>
                  <a:srgbClr val="E8D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GIS-ENABLED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404208" y="480060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3F4A23"/>
          </a:solidFill>
          <a:ln/>
        </p:spPr>
      </p:sp>
      <p:sp>
        <p:nvSpPr>
          <p:cNvPr id="12" name="Text 9"/>
          <p:cNvSpPr/>
          <p:nvPr/>
        </p:nvSpPr>
        <p:spPr>
          <a:xfrm>
            <a:off x="4404208" y="4892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4495648" y="54864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8D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50" kern="0" dirty="0">
                <a:solidFill>
                  <a:srgbClr val="E8D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107528" y="480060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3F4A23"/>
          </a:solidFill>
          <a:ln/>
        </p:spPr>
      </p:sp>
      <p:sp>
        <p:nvSpPr>
          <p:cNvPr id="15" name="Text 12"/>
          <p:cNvSpPr/>
          <p:nvPr/>
        </p:nvSpPr>
        <p:spPr>
          <a:xfrm>
            <a:off x="8107528" y="4892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MILLIONS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8198968" y="54864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8D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M365 USERS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50" kern="0" dirty="0">
                <a:solidFill>
                  <a:srgbClr val="E8D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ANSIGHT  |  GEOSPATIAL CAPABILITY STATEMENT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6B7A3D"/>
          </a:solidFill>
          <a:ln/>
        </p:spPr>
      </p:sp>
      <p:pic>
        <p:nvPicPr>
          <p:cNvPr id="3" name="Image 0" descr="icon_competenc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2179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84632"/>
            <a:ext cx="10362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F4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Competencies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298448"/>
            <a:ext cx="365760" cy="365760"/>
          </a:xfrm>
          <a:prstGeom prst="ellipse">
            <a:avLst/>
          </a:prstGeom>
          <a:solidFill>
            <a:srgbClr val="C98A1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15568" y="1225296"/>
            <a:ext cx="105274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4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 Analytics &amp; Site Selection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15568" y="1508760"/>
            <a:ext cx="105274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Demographic, socioeconomic, market, and trade-area analysis using ArcGIS Business Analyst and suitability modeling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11094415" cy="0"/>
          </a:xfrm>
          <a:prstGeom prst="line">
            <a:avLst/>
          </a:prstGeom>
          <a:noFill/>
          <a:ln w="12700">
            <a:solidFill>
              <a:srgbClr val="E4DBC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093976"/>
            <a:ext cx="365760" cy="365760"/>
          </a:xfrm>
          <a:prstGeom prst="ellipse">
            <a:avLst/>
          </a:prstGeom>
          <a:solidFill>
            <a:srgbClr val="C98A1D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093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15568" y="2020824"/>
            <a:ext cx="105274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4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GIS Data Engineering &amp; QA/QC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15568" y="2304288"/>
            <a:ext cx="105274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design, schema and feature-service development, and data validation in ArcGIS Pro, ArcGIS Enterprise, and QGIS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807208"/>
            <a:ext cx="11094415" cy="0"/>
          </a:xfrm>
          <a:prstGeom prst="line">
            <a:avLst/>
          </a:prstGeom>
          <a:noFill/>
          <a:ln w="12700">
            <a:solidFill>
              <a:srgbClr val="E4DB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2889504"/>
            <a:ext cx="365760" cy="365760"/>
          </a:xfrm>
          <a:prstGeom prst="ellipse">
            <a:avLst/>
          </a:prstGeom>
          <a:solidFill>
            <a:srgbClr val="C98A1D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15568" y="2816352"/>
            <a:ext cx="105274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4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GIS &amp; Spatial Database Management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15568" y="3099816"/>
            <a:ext cx="105274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and file geodatabase design, PostgreSQL/PostGIS and SQL Server administration, spatial ETL, and metadata/data governance standards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3602736"/>
            <a:ext cx="11094415" cy="0"/>
          </a:xfrm>
          <a:prstGeom prst="line">
            <a:avLst/>
          </a:prstGeom>
          <a:noFill/>
          <a:ln w="12700">
            <a:solidFill>
              <a:srgbClr val="E4DB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" y="3685032"/>
            <a:ext cx="365760" cy="365760"/>
          </a:xfrm>
          <a:prstGeom prst="ellipse">
            <a:avLst/>
          </a:prstGeom>
          <a:solidFill>
            <a:srgbClr val="C98A1D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3685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115568" y="3611880"/>
            <a:ext cx="105274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4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GIS Enablement &amp; Training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115568" y="3895344"/>
            <a:ext cx="105274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translation, symbology standards, and stakeholder enablement sessions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4398264"/>
            <a:ext cx="11094415" cy="0"/>
          </a:xfrm>
          <a:prstGeom prst="line">
            <a:avLst/>
          </a:prstGeom>
          <a:noFill/>
          <a:ln w="12700">
            <a:solidFill>
              <a:srgbClr val="E4DB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8640" y="4480560"/>
            <a:ext cx="365760" cy="365760"/>
          </a:xfrm>
          <a:prstGeom prst="ellipse">
            <a:avLst/>
          </a:prstGeom>
          <a:solidFill>
            <a:srgbClr val="C98A1D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115568" y="4407408"/>
            <a:ext cx="105274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4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GIS Product Development &amp; Automation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115568" y="4690872"/>
            <a:ext cx="105274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geospatial feature design and workflow automation with Python, SQL, Arcade, and ArcGIS Notebooks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" y="5193792"/>
            <a:ext cx="11094415" cy="0"/>
          </a:xfrm>
          <a:prstGeom prst="line">
            <a:avLst/>
          </a:prstGeom>
          <a:noFill/>
          <a:ln w="12700">
            <a:solidFill>
              <a:srgbClr val="E4DB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48640" y="5276088"/>
            <a:ext cx="365760" cy="365760"/>
          </a:xfrm>
          <a:prstGeom prst="ellipse">
            <a:avLst/>
          </a:prstGeom>
          <a:solidFill>
            <a:srgbClr val="C98A1D"/>
          </a:solidFill>
          <a:ln/>
        </p:spPr>
      </p:sp>
      <p:sp>
        <p:nvSpPr>
          <p:cNvPr id="31" name="Text 28"/>
          <p:cNvSpPr/>
          <p:nvPr/>
        </p:nvSpPr>
        <p:spPr>
          <a:xfrm>
            <a:off x="548640" y="5276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115568" y="5202936"/>
            <a:ext cx="105274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4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&amp; Utility Mapping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115568" y="5486400"/>
            <a:ext cx="105274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and utility network mapping with presentation-ready spatial deliverables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ANSIGHT  |  GEOSPATIAL CAPABILITY STATEMENT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6B7A3D"/>
          </a:solidFill>
          <a:ln/>
        </p:spPr>
      </p:sp>
      <p:pic>
        <p:nvPicPr>
          <p:cNvPr id="3" name="Image 0" descr="icon_experi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2179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84632"/>
            <a:ext cx="10362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F4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Experience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1704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Ansight has delivered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4415" cy="731520"/>
          </a:xfrm>
          <a:prstGeom prst="roundRect">
            <a:avLst>
              <a:gd name="adj" fmla="val 7500"/>
            </a:avLst>
          </a:prstGeom>
          <a:solidFill>
            <a:srgbClr val="F3EADA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2002536"/>
            <a:ext cx="109728" cy="109728"/>
          </a:xfrm>
          <a:prstGeom prst="ellipse">
            <a:avLst/>
          </a:prstGeom>
          <a:solidFill>
            <a:srgbClr val="C98A1D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1746504"/>
            <a:ext cx="10317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4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 Analytics for Global Real Estate Site Selection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2075688"/>
            <a:ext cx="10317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GIS Technical Program Manager  •  10+ EMEA markets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587752"/>
            <a:ext cx="11094415" cy="731520"/>
          </a:xfrm>
          <a:prstGeom prst="roundRect">
            <a:avLst>
              <a:gd name="adj" fmla="val 7500"/>
            </a:avLst>
          </a:prstGeom>
          <a:solidFill>
            <a:srgbClr val="F3EADA"/>
          </a:solidFill>
          <a:ln/>
        </p:spPr>
      </p:sp>
      <p:sp>
        <p:nvSpPr>
          <p:cNvPr id="11" name="Shape 8"/>
          <p:cNvSpPr/>
          <p:nvPr/>
        </p:nvSpPr>
        <p:spPr>
          <a:xfrm>
            <a:off x="749808" y="2898648"/>
            <a:ext cx="109728" cy="109728"/>
          </a:xfrm>
          <a:prstGeom prst="ellipse">
            <a:avLst/>
          </a:prstGeom>
          <a:solidFill>
            <a:srgbClr val="C98A1D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2642616"/>
            <a:ext cx="10317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4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GIS Enablement for Utilities, Retail &amp; Logistics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51560" y="2971800"/>
            <a:ext cx="10317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Esri: ArcGIS for Microsoft 365 enterprise customers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483864"/>
            <a:ext cx="11094415" cy="731520"/>
          </a:xfrm>
          <a:prstGeom prst="roundRect">
            <a:avLst>
              <a:gd name="adj" fmla="val 7500"/>
            </a:avLst>
          </a:prstGeom>
          <a:solidFill>
            <a:srgbClr val="F3EADA"/>
          </a:solidFill>
          <a:ln/>
        </p:spPr>
      </p:sp>
      <p:sp>
        <p:nvSpPr>
          <p:cNvPr id="15" name="Shape 12"/>
          <p:cNvSpPr/>
          <p:nvPr/>
        </p:nvSpPr>
        <p:spPr>
          <a:xfrm>
            <a:off x="749808" y="3794760"/>
            <a:ext cx="109728" cy="109728"/>
          </a:xfrm>
          <a:prstGeom prst="ellipse">
            <a:avLst/>
          </a:prstGeom>
          <a:solidFill>
            <a:srgbClr val="C98A1D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3538728"/>
            <a:ext cx="10317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4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GIS Product Development for Microsoft 365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867912"/>
            <a:ext cx="10317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Esri: Product Engineer, native geospatial features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4379976"/>
            <a:ext cx="11094415" cy="731520"/>
          </a:xfrm>
          <a:prstGeom prst="roundRect">
            <a:avLst>
              <a:gd name="adj" fmla="val 7500"/>
            </a:avLst>
          </a:prstGeom>
          <a:solidFill>
            <a:srgbClr val="F3EADA"/>
          </a:solidFill>
          <a:ln/>
        </p:spPr>
      </p:sp>
      <p:sp>
        <p:nvSpPr>
          <p:cNvPr id="19" name="Shape 16"/>
          <p:cNvSpPr/>
          <p:nvPr/>
        </p:nvSpPr>
        <p:spPr>
          <a:xfrm>
            <a:off x="749808" y="4690872"/>
            <a:ext cx="109728" cy="109728"/>
          </a:xfrm>
          <a:prstGeom prst="ellipse">
            <a:avLst/>
          </a:prstGeom>
          <a:solidFill>
            <a:srgbClr val="C98A1D"/>
          </a:solidFill>
          <a:ln/>
        </p:spPr>
      </p:sp>
      <p:sp>
        <p:nvSpPr>
          <p:cNvPr id="20" name="Text 17"/>
          <p:cNvSpPr/>
          <p:nvPr/>
        </p:nvSpPr>
        <p:spPr>
          <a:xfrm>
            <a:off x="1051560" y="4434840"/>
            <a:ext cx="10317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4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Suitability Modeling for Community &amp; Site Planning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51560" y="4764024"/>
            <a:ext cx="10317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Tennessee State University: Spatial Analyst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5276088"/>
            <a:ext cx="11094415" cy="731520"/>
          </a:xfrm>
          <a:prstGeom prst="roundRect">
            <a:avLst>
              <a:gd name="adj" fmla="val 7500"/>
            </a:avLst>
          </a:prstGeom>
          <a:solidFill>
            <a:srgbClr val="F3EADA"/>
          </a:solidFill>
          <a:ln/>
        </p:spPr>
      </p:sp>
      <p:sp>
        <p:nvSpPr>
          <p:cNvPr id="23" name="Shape 20"/>
          <p:cNvSpPr/>
          <p:nvPr/>
        </p:nvSpPr>
        <p:spPr>
          <a:xfrm>
            <a:off x="749808" y="5586984"/>
            <a:ext cx="109728" cy="109728"/>
          </a:xfrm>
          <a:prstGeom prst="ellipse">
            <a:avLst/>
          </a:prstGeom>
          <a:solidFill>
            <a:srgbClr val="C98A1D"/>
          </a:solidFill>
          <a:ln/>
        </p:spPr>
      </p:sp>
      <p:sp>
        <p:nvSpPr>
          <p:cNvPr id="24" name="Text 21"/>
          <p:cNvSpPr/>
          <p:nvPr/>
        </p:nvSpPr>
        <p:spPr>
          <a:xfrm>
            <a:off x="1051560" y="5330952"/>
            <a:ext cx="10317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4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Mapping for Water &amp; Wastewater Projects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051560" y="5660136"/>
            <a:ext cx="10317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Hazen and Sawyer, environmental engineering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ANSIGHT  |  GEOSPATIAL CAPABILITY STATEMENT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6B7A3D"/>
          </a:solidFill>
          <a:ln/>
        </p:spPr>
      </p:sp>
      <p:pic>
        <p:nvPicPr>
          <p:cNvPr id="3" name="Image 0" descr="icon_pastper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2179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84632"/>
            <a:ext cx="10362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F4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 Performance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Ansight is a newly established firm. As with any new company, a formal contract past-performance record is still in development. The quality of our work is proven through the direct, hands-on industry experience our team brings to every engagement.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423160"/>
            <a:ext cx="5364328" cy="3291840"/>
          </a:xfrm>
          <a:prstGeom prst="roundRect">
            <a:avLst>
              <a:gd name="adj" fmla="val 2222"/>
            </a:avLst>
          </a:prstGeom>
          <a:solidFill>
            <a:srgbClr val="3F4A23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65176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EXECUTIVE TEAM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10896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years of enterprise GIS delivery, including: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3520440"/>
            <a:ext cx="48156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GIS Technical Program Manager, global real estate site selection (EMEA)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Esri, ArcGIS for Microsoft 365: Product Engineer, enterprise GIS enablement &amp; product development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Tennessee State University: Spatial Analyst, spatial suitability research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GIS, Tennessee State University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78728" y="2423160"/>
            <a:ext cx="5364328" cy="3291840"/>
          </a:xfrm>
          <a:prstGeom prst="roundRect">
            <a:avLst>
              <a:gd name="adj" fmla="val 2222"/>
            </a:avLst>
          </a:prstGeom>
          <a:solidFill>
            <a:srgbClr val="F3EADA"/>
          </a:solidFill>
          <a:ln w="12700">
            <a:solidFill>
              <a:srgbClr val="C98A1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53048" y="265176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3F4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COMPANY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53048" y="3200400"/>
            <a:ext cx="481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Ansight is the dedicated geospatial consultancy built to apply that proven, hands-on experience to new client and agency engagements, applying the same rigor and QA/QC standards to a new mission.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ANSIGHT  |  GEOSPATIAL CAPABILITY STATEMENT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6B7A3D"/>
          </a:solidFill>
          <a:ln/>
        </p:spPr>
      </p:sp>
      <p:pic>
        <p:nvPicPr>
          <p:cNvPr id="3" name="Image 0" descr="icon_corp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62179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84632"/>
            <a:ext cx="10362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F4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Data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1094415" cy="676656"/>
          </a:xfrm>
          <a:prstGeom prst="rect">
            <a:avLst/>
          </a:prstGeom>
          <a:solidFill>
            <a:srgbClr val="F3EADA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371600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4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206240" y="1371600"/>
            <a:ext cx="725393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2048256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4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NAICS Codes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206240" y="2048256"/>
            <a:ext cx="725393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541370 – Surveying &amp; Mapping Services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541511 – Custom Computer Programming Services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541690 – Other Scientific &amp; Technical Consulting  (confirm registered codes)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724912"/>
            <a:ext cx="11094415" cy="676656"/>
          </a:xfrm>
          <a:prstGeom prst="rect">
            <a:avLst/>
          </a:prstGeom>
          <a:solidFill>
            <a:srgbClr val="F3EADA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72491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4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Location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206240" y="2724912"/>
            <a:ext cx="725393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Bloomfield, New Jersey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3401568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4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UEI Number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206240" y="3401568"/>
            <a:ext cx="725393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provided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4078224"/>
            <a:ext cx="11094415" cy="676656"/>
          </a:xfrm>
          <a:prstGeom prst="rect">
            <a:avLst/>
          </a:prstGeom>
          <a:solidFill>
            <a:srgbClr val="F3EADA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4078224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4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CAGE Code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206240" y="4078224"/>
            <a:ext cx="725393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provided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" y="4754880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4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Socio-Economic Certifications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206240" y="4754880"/>
            <a:ext cx="725393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provided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431536"/>
            <a:ext cx="11094415" cy="676656"/>
          </a:xfrm>
          <a:prstGeom prst="rect">
            <a:avLst/>
          </a:prstGeom>
          <a:solidFill>
            <a:srgbClr val="F3EADA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5431536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4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Clearance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206240" y="5431536"/>
            <a:ext cx="725393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provided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ANSIGHT  |  GEOSPATIAL CAPABILITY STATEMENT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F4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188720"/>
            <a:ext cx="4206240" cy="4206240"/>
          </a:xfrm>
          <a:prstGeom prst="ellipse">
            <a:avLst/>
          </a:prstGeom>
          <a:solidFill>
            <a:srgbClr val="6B7A3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572000"/>
            <a:ext cx="3291840" cy="3291840"/>
          </a:xfrm>
          <a:prstGeom prst="ellipse">
            <a:avLst/>
          </a:prstGeom>
          <a:solidFill>
            <a:srgbClr val="C98A1D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914400"/>
            <a:ext cx="658368" cy="658368"/>
          </a:xfrm>
          <a:prstGeom prst="ellipse">
            <a:avLst/>
          </a:prstGeom>
          <a:solidFill>
            <a:srgbClr val="C98A1D"/>
          </a:solidFill>
          <a:ln/>
        </p:spPr>
      </p:sp>
      <p:pic>
        <p:nvPicPr>
          <p:cNvPr id="5" name="Image 0" descr="icon_cont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9144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 Information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Adeyinka Adekunle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2788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D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Principal Consultant, Ansight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8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468880" y="3566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Bloomfield, New Jersey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8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468880" y="4069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443-815-1537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8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468880" y="4572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adekunledeyinka@gmail.com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ANSIGHT  |  GEOSPATIAL CAPABILITY STATEMENT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2026-09-02T19:57:23Z</dcterms:created>
  <dcterms:modified xsi:type="dcterms:W3CDTF">2026-09-02T19:57:23Z</dcterms:modified>
</cp:coreProperties>
</file>